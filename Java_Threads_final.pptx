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9" r:id="rId20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1645920" cy="1645920"/>
          </a:xfrm>
          <a:prstGeom prst="ellipse">
            <a:avLst/>
          </a:prstGeom>
          <a:solidFill>
            <a:srgbClr val="00BCD4">
              <a:alpha val="15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280160"/>
            <a:ext cx="2377440" cy="2377440"/>
          </a:xfrm>
          <a:prstGeom prst="ellipse">
            <a:avLst/>
          </a:prstGeom>
          <a:solidFill>
            <a:srgbClr val="00BCD4">
              <a:alpha val="10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2926080"/>
            <a:ext cx="2011680" cy="2011680"/>
          </a:xfrm>
          <a:prstGeom prst="ellipse">
            <a:avLst/>
          </a:prstGeom>
          <a:solidFill>
            <a:srgbClr val="00BCD4">
              <a:alpha val="12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3474720"/>
            <a:ext cx="1280160" cy="1280160"/>
          </a:xfrm>
          <a:prstGeom prst="ellipse">
            <a:avLst/>
          </a:prstGeom>
          <a:solidFill>
            <a:srgbClr val="00BCD4">
              <a:alpha val="18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потоками в Java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Многопоточное программирование: от основ до практики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114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Выполнил: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Нугуманов Давлат Вадимович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Группа: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ОБ09.03.01-11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877824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8961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поток? Процессы vs Потоки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627632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6459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потоков: Thread и Runnable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377440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23957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потока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" y="3127248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1455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— ключевое слово synchronized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877056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89534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wait(), notify(), notifyAll()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877824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8961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Framework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572768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1627632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6459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java.util.concurrent — высокий уровень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2322576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2377440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21808" y="23957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проблемы: Deadlock и Race Condition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072384"/>
            <a:ext cx="41148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36592" y="3127248"/>
            <a:ext cx="502920" cy="512064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31455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практики и итоги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поток? Процессы vs Потоки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ПРОЦЕСС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Независимое адресное пространство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56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Собственные ресурсы ОС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4261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Изолированы друг от друга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73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Переключение = высокие затраты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4206240" cy="40233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777240"/>
            <a:ext cx="420624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777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ПОТОК (THREAD)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28032" y="132588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Разделяют память процесса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98424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1956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Лёгкий в создании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8032" y="2642616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Быстрое переключение контекста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28032" y="3300984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Могут взаимодействовать через общие данные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07408" y="2560320"/>
            <a:ext cx="237744" cy="457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2331720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6E7A"/>
                </a:solidFill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потоков: Thread и Runnable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60520" cy="40233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657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① Наследование Thread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4023360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class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MyThread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extends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{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public void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 {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
      "Поток: " +
       getName());
  }
}
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Запуск: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MyThread t =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new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MyThread();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40233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657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77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FF78"/>
                </a:solidFill>
              </a:rPr>
              <a:t>② Реализация Runnable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207008"/>
            <a:ext cx="4023360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class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MyTask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implements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 {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public void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 {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System.out.println(
      "Задача выполнена");
  }
}
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Запуск: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Runnable task =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new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MyTask();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Thread t =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new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Thread(task);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потока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0"/>
            <a:ext cx="1600200" cy="68580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194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600200" cy="68580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RUNNABLE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194560"/>
            <a:ext cx="1600200" cy="6858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2194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RUNNING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005840"/>
            <a:ext cx="1600200" cy="685800"/>
          </a:xfrm>
          <a:prstGeom prst="rect">
            <a:avLst/>
          </a:prstGeom>
          <a:solidFill>
            <a:srgbClr val="FFCC80"/>
          </a:solidFill>
          <a:ln w="12700">
            <a:solidFill>
              <a:srgbClr val="FFCC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005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BLOCKED/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WAITING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194560"/>
            <a:ext cx="1600200" cy="685800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194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TERMINATED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20240" y="2532888"/>
            <a:ext cx="91440" cy="-114300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389888"/>
            <a:ext cx="914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</a:rPr>
              <a:t>start()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1344168"/>
            <a:ext cx="274320" cy="112471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планировщик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выбирает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2532888"/>
            <a:ext cx="365760" cy="-1143000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737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</a:rPr>
              <a:t>wait()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</a:rPr>
              <a:t>block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1344168"/>
            <a:ext cx="-1920240" cy="0"/>
          </a:xfrm>
          <a:prstGeom prst="line">
            <a:avLst/>
          </a:prstGeom>
          <a:noFill/>
          <a:ln w="19050">
            <a:solidFill>
              <a:srgbClr val="388E3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023360" y="749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8E3C"/>
                </a:solidFill>
              </a:rPr>
              <a:t>notify()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88E3C"/>
                </a:solidFill>
              </a:rPr>
              <a:t>unblock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0680" y="2532888"/>
            <a:ext cx="150876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run()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завершён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8686800" cy="114300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703320"/>
            <a:ext cx="8503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Ключевые методы: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— запускает поток  |  sleep(ms) — приостанавливает  |  join() — ждёт завершения  |  interrupt() — прерывает поток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— ключевое слово synchronized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21031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Проблема (Race Condition)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393192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counter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Два потока выполняют: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Результат непредсказуем!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Ожидали: 2000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Получили: 1847 (?)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77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Решение (synchronized)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170432"/>
            <a:ext cx="402336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synchronized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increment() {
  counter++;
}
// Или блок:
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(this)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counter++;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278892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2788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Монитор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3419856"/>
            <a:ext cx="26517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Каждый объект в Java имеет монитор — встроенный замок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3017520"/>
            <a:ext cx="278892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3017520"/>
            <a:ext cx="2788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Mutex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419856"/>
            <a:ext cx="26517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Только один поток может удерживать монитор в момент времени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3017520"/>
            <a:ext cx="278892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3017520"/>
            <a:ext cx="2788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volatile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36208" y="3419856"/>
            <a:ext cx="26517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Гарантирует видимость изменений переменной всем потокам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wait(), notify(), notifyAll()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117043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09728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1097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wait()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822960"/>
            <a:ext cx="2834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Освобождает монитор и переводит поток в состояние WAITING. Поток «засыпает» до получения уведомления.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117043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03120"/>
            <a:ext cx="1097280" cy="1170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03120"/>
            <a:ext cx="1097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notify()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148840"/>
            <a:ext cx="2834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Будит один случайный поток, ожидающий на мониторе данного объекта.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4114800" cy="117043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29000"/>
            <a:ext cx="1097280" cy="1170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429000"/>
            <a:ext cx="1097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notifyAll()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Будит ВСЕ потоки, ожидающие на мониторе. Более безопасный вариант.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777240"/>
            <a:ext cx="4251960" cy="397764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777240"/>
            <a:ext cx="4251960" cy="3657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7772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Пример: Producer–Consumer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81728" y="1188720"/>
            <a:ext cx="4114800" cy="3493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Потребитель
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synchronized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(lock)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while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(!ready)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lock.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  process(data);
}
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Производитель
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synchronized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(lock)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data = produce();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ready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lock.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notifyAll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</a:rPr>
              <a:t>⚠️ Вызов wait()/notify() допустим только внутри synchronized-блока!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java.util.concurrent предоставляет пул потоков — более безопасную и гибкую альтернативу ручному управлению потоками.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6052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13716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0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newFixedThreadPool(n)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928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Пул из n потоков фиксированного размера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6052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13716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90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newCachedThreadPool()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8928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Создаёт потоки по мере необходимости, переиспользует свободные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16052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88920"/>
            <a:ext cx="137160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62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newSingleThreadExecutor()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264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Единственный поток, гарантирует последовательность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16052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88920"/>
            <a:ext cx="137160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862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newScheduledThreadPool(n)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3264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Выполняет задачи по расписанию или с задержкой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8686800" cy="7315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4242816"/>
            <a:ext cx="8503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ExecutorService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 = Executors.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newFixedThreadPool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(4);   pool.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-&gt; System.out.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("Task"));   pool.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shutdown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java.util.concurrent — высокоуровневые инструменты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278892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27889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ReentrantLock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60934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Явный замок с поддержкой попытки захвата (tryLock), справедливостью и условиями.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8892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27889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3552" y="160934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Ограничивает число одновременных потоков, получающих доступ к ресурсу.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804672"/>
            <a:ext cx="278892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04672"/>
            <a:ext cx="278892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Barrier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9632" y="1207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CountDownLatch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160934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Ждёт, пока N событий не завершатся, прежде чем продолжить выполнение.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278892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89504"/>
            <a:ext cx="278892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889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Barrier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CyclicBarrier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369417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 потоков ждут друг друга в точке барьера, затем продолжают.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889504"/>
            <a:ext cx="278892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89504"/>
            <a:ext cx="278892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5264" y="2889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Async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73552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/ Callable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73552" y="369417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Callable возвращает результат; Future позволяет получить его асинхронно.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889504"/>
            <a:ext cx="278892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89504"/>
            <a:ext cx="278892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2889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Async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99632" y="369417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Полноценное асинхронное программирование с цепочками операций.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проблемы: Deadlock и Race Condition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3931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Deadlock (Взаимная блокировка)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2161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Возникает, когда два и более потока ждут ресурсы, удерживаемые друг другом.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10058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Поток 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1874520"/>
            <a:ext cx="10058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874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Поток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1417320"/>
            <a:ext cx="868680" cy="43891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141732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Lock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2395728"/>
            <a:ext cx="868680" cy="43891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3957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Lock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408" y="2039112"/>
            <a:ext cx="301752" cy="-41148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1636776"/>
            <a:ext cx="640080" cy="493776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2148840"/>
            <a:ext cx="301752" cy="384048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8840" y="2615184"/>
            <a:ext cx="640080" cy="-45720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44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Как предотвратить: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2918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Всегда захватывать замки в одном порядке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Использовать tryLock() с таймаутом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Минимизировать количество синхронизаций
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777240"/>
            <a:ext cx="4206240" cy="3931920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777240"/>
            <a:ext cx="420624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Race Condition (Состояние гонки)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36592" y="12161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Два потока изменяют общие данные одновременно — результат зависит от порядка выполнения.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1783080"/>
            <a:ext cx="406908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1828800"/>
            <a:ext cx="39319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Небезопасно:
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(balance &gt;= amount)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balance -= amount; // ← гонка!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3273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Решения: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36592" y="362102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synchronized-методы и блоки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Классы AtomicInteger, AtomicLong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Неизменяемые (immutable) объекты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ThreadLocal — отдельные копии данных
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подходы: Lambda и CompletableFuture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19659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Lambda + Thread (Java 8+)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39319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Краткая запись потока:
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new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Thread(() -&gt;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System.out.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("Hello!");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06240" cy="19659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F78"/>
                </a:solidFill>
              </a:rPr>
              <a:t>CompletableFuture (Java 8+)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6592" y="1170432"/>
            <a:ext cx="402336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supplyAsync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-&gt; fetchData())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thenApply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 -&gt; process(data))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thenAccept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(System.out::println);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192024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8595360" cy="38404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803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Virtual Threads — Java 21 (Project Loom)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310128"/>
            <a:ext cx="4114800" cy="141732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355848"/>
            <a:ext cx="39776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Миллионы потоков без затрат: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 = Thread.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ofVirtual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().start(() -&gt; doWork());
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ExecutorService: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Executors.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newVirtualThreadPerTaskExecutor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355848"/>
            <a:ext cx="42062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Виртуальные потоки — легковесные потоки, управляемые JVM. Стоимость создания минимальна, масштабируются до миллионов. Идеальны для I/O-heavy задач.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Поток — лёгкая единица выполнения внутри процесса; Java поддерживает многопоточность на уровне языка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733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Создавайте потоки через implements Runnable или Lambda — это гибче, чем extends Thread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29514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synchronized, wait(), notify() — базовые примитивы синхронизации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91693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Executor Framework и java.util.concurrent упрощают управление потоками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5387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Deadlock и Race Condition — главные враги; предотвращайте через правильное проектирование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Virtual Threads (Java 21) — будущее: миллионы лёгких потоков без накладных расходов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850392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 xml:space="preserve">Группа: ОБ09.03.01-11  |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Нугуманов Давлат Вадимович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itleText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200" b="1" dirty="0">
                <a:solidFill>
                  <a:srgbClr val="FFFFFF"/>
                </a:solidFill>
                <a:latin typeface="Calibri" pitchFamily="34" charset="0"/>
              </a:rPr>
              <a:t>Пример 1: Параллельные потоки с join()</a:t>
            </a:r>
          </a:p>
        </p:txBody>
      </p:sp>
      <p:sp>
        <p:nvSpPr>
          <p:cNvPr id="4" name="SlideNum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12</a:t>
            </a:r>
          </a:p>
        </p:txBody>
      </p:sp>
      <p:sp>
        <p:nvSpPr>
          <p:cNvPr id="5" name="AccentBar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CodeBg"/>
          <p:cNvSpPr/>
          <p:nvPr/>
        </p:nvSpPr>
        <p:spPr>
          <a:xfrm>
            <a:off x="182880" y="686880"/>
            <a:ext cx="4572000" cy="43653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7" name="CodeHeader"/>
          <p:cNvSpPr/>
          <p:nvPr/>
        </p:nvSpPr>
        <p:spPr>
          <a:xfrm>
            <a:off x="182880" y="686880"/>
            <a:ext cx="45720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CodeHeaderText"/>
          <p:cNvSpPr/>
          <p:nvPr/>
        </p:nvSpPr>
        <p:spPr>
          <a:xfrm>
            <a:off x="228600" y="686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00BCD4"/>
                </a:solidFill>
              </a:rPr>
              <a:t>☕ MultiThread.java</a:t>
            </a:r>
          </a:p>
        </p:txBody>
      </p:sp>
      <p:sp>
        <p:nvSpPr>
          <p:cNvPr id="9" name="CodeText"/>
          <p:cNvSpPr/>
          <p:nvPr/>
        </p:nvSpPr>
        <p:spPr>
          <a:xfrm>
            <a:off x="228600" y="1052640"/>
            <a:ext cx="4480560" cy="3952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public class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MultiThread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public static void 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main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(String[] args)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  throws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InterruptedException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Thread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t1 = </a:t>
            </a: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new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>Thread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(() -&gt; 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  for (</a:t>
            </a: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int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i=1; i&lt;=3; i++)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    System.out.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println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("Поток A: шаг "+i);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});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Thread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t2 = </a:t>
            </a: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new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>Thread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(() -&gt; 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  for (int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i=1; i&lt;=3; i++)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    System.out.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println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("Поток B: шаг "+i);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});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t1.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start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 t2.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start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t1.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join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 t2.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join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System.out.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println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("Главный завершён");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} }</a:t>
            </a:r>
          </a:p>
        </p:txBody>
      </p:sp>
      <p:sp>
        <p:nvSpPr>
          <p:cNvPr id="10" name="OutputBg"/>
          <p:cNvSpPr/>
          <p:nvPr/>
        </p:nvSpPr>
        <p:spPr>
          <a:xfrm>
            <a:off x="4800600" y="686880"/>
            <a:ext cx="4252560" cy="4365360"/>
          </a:xfrm>
          <a:prstGeom prst="rect">
            <a:avLst/>
          </a:prstGeom>
          <a:solidFill>
            <a:srgbClr val="0D1117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11" name="OutputHeader"/>
          <p:cNvSpPr/>
          <p:nvPr/>
        </p:nvSpPr>
        <p:spPr>
          <a:xfrm>
            <a:off x="4800600" y="686880"/>
            <a:ext cx="42525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OutputHeaderText"/>
          <p:cNvSpPr/>
          <p:nvPr/>
        </p:nvSpPr>
        <p:spPr>
          <a:xfrm>
            <a:off x="4846320" y="686880"/>
            <a:ext cx="416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A8FF78"/>
                </a:solidFill>
              </a:rPr>
              <a:t>► Вывод программы</a:t>
            </a:r>
          </a:p>
        </p:txBody>
      </p:sp>
      <p:sp>
        <p:nvSpPr>
          <p:cNvPr id="13" name="OutputText"/>
          <p:cNvSpPr/>
          <p:nvPr/>
        </p:nvSpPr>
        <p:spPr>
          <a:xfrm>
            <a:off x="4846320" y="1052640"/>
            <a:ext cx="416064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A8FF78"/>
                </a:solidFill>
                <a:latin typeface="Consolas" pitchFamily="34" charset="0"/>
              </a:rPr>
              <a:t>Поток A: шаг 1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00BCD4"/>
                </a:solidFill>
                <a:latin typeface="Consolas" pitchFamily="34" charset="0"/>
              </a:rPr>
              <a:t>Поток B: шаг 1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A8FF78"/>
                </a:solidFill>
                <a:latin typeface="Consolas" pitchFamily="34" charset="0"/>
              </a:rPr>
              <a:t>Поток A: шаг 2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00BCD4"/>
                </a:solidFill>
                <a:latin typeface="Consolas" pitchFamily="34" charset="0"/>
              </a:rPr>
              <a:t>Поток B: шаг 2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A8FF78"/>
                </a:solidFill>
                <a:latin typeface="Consolas" pitchFamily="34" charset="0"/>
              </a:rPr>
              <a:t>Поток A: шаг 3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00BCD4"/>
                </a:solidFill>
                <a:latin typeface="Consolas" pitchFamily="34" charset="0"/>
              </a:rPr>
              <a:t>Поток B: шаг 3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F0E68C"/>
                </a:solidFill>
                <a:latin typeface="Consolas" pitchFamily="34" charset="0"/>
              </a:rPr>
              <a:t>Главный завершён</a:t>
            </a:r>
          </a:p>
        </p:txBody>
      </p:sp>
      <p:sp>
        <p:nvSpPr>
          <p:cNvPr id="14" name="NoteBox"/>
          <p:cNvSpPr/>
          <p:nvPr/>
        </p:nvSpPr>
        <p:spPr>
          <a:xfrm>
            <a:off x="4800600" y="3840480"/>
            <a:ext cx="4252560" cy="1211760"/>
          </a:xfrm>
          <a:prstGeom prst="rect">
            <a:avLst/>
          </a:prstGeom>
          <a:solidFill>
            <a:srgbClr val="1E2A38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5" name="NoteText"/>
          <p:cNvSpPr/>
          <p:nvPr/>
        </p:nvSpPr>
        <p:spPr>
          <a:xfrm>
            <a:off x="4877040" y="3886200"/>
            <a:ext cx="4130040" cy="112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ru-RU" sz="1000" b="1" dirty="0">
                <a:solidFill>
                  <a:srgbClr val="00BCD4"/>
                </a:solidFill>
              </a:rPr>
              <a:t>⚠ Порядок может меняться!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B0BEC5"/>
                </a:solidFill>
              </a:rPr>
              <a:t>Планировщик потоков сам решает, когда давать процессорное время каждому потоку. join() гарантирует: главный поток ждёт завершения обоих.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itleText"/>
          <p:cNvSpPr/>
          <p:nvPr/>
        </p:nvSpPr>
        <p:spPr>
          <a:xfrm>
            <a:off x="32004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200" b="1" dirty="0">
                <a:solidFill>
                  <a:srgbClr val="FFFFFF"/>
                </a:solidFill>
                <a:latin typeface="Calibri" pitchFamily="34" charset="0"/>
              </a:rPr>
              <a:t>Пример 2: Потокобезопасный счётчик (synchronized)</a:t>
            </a:r>
          </a:p>
        </p:txBody>
      </p:sp>
      <p:sp>
        <p:nvSpPr>
          <p:cNvPr id="4" name="SlideNum"/>
          <p:cNvSpPr/>
          <p:nvPr/>
        </p:nvSpPr>
        <p:spPr>
          <a:xfrm>
            <a:off x="8503920" y="73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13</a:t>
            </a:r>
          </a:p>
        </p:txBody>
      </p:sp>
      <p:sp>
        <p:nvSpPr>
          <p:cNvPr id="5" name="AccentBar"/>
          <p:cNvSpPr/>
          <p:nvPr/>
        </p:nvSpPr>
        <p:spPr>
          <a:xfrm>
            <a:off x="0" y="640080"/>
            <a:ext cx="109728" cy="45034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CodeBg"/>
          <p:cNvSpPr/>
          <p:nvPr/>
        </p:nvSpPr>
        <p:spPr>
          <a:xfrm>
            <a:off x="182880" y="686880"/>
            <a:ext cx="4572000" cy="43653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7" name="CodeHeader"/>
          <p:cNvSpPr/>
          <p:nvPr/>
        </p:nvSpPr>
        <p:spPr>
          <a:xfrm>
            <a:off x="182880" y="686880"/>
            <a:ext cx="45720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CodeHeaderText"/>
          <p:cNvSpPr/>
          <p:nvPr/>
        </p:nvSpPr>
        <p:spPr>
          <a:xfrm>
            <a:off x="228600" y="686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00BCD4"/>
                </a:solidFill>
              </a:rPr>
              <a:t>☕ SyncCounter.java</a:t>
            </a:r>
          </a:p>
        </p:txBody>
      </p:sp>
      <p:sp>
        <p:nvSpPr>
          <p:cNvPr id="9" name="CodeText"/>
          <p:cNvSpPr/>
          <p:nvPr/>
        </p:nvSpPr>
        <p:spPr>
          <a:xfrm>
            <a:off x="228600" y="1052640"/>
            <a:ext cx="4480560" cy="3952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class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Counter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private int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count = 0;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public synchronized void 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increment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 { count++; }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public int 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getCount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 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return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count; } }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public class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SyncCounter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public static void 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main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(String[] args)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    throws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InterruptedException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    Counter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c = </a:t>
            </a: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new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>Counter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    Thread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[] threads = </a:t>
            </a: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new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>Thread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[5];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for (int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i=0; i&lt;5; i++) 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  threads[i] = </a:t>
            </a: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new 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>Thread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(() -&gt; {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    for (int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j=0; j&lt;1000; j++)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      c.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increment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  }); threads[i].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start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 }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569CD6"/>
                </a:solidFill>
                <a:latin typeface="Consolas" pitchFamily="34" charset="0"/>
              </a:rPr>
              <a:t xml:space="preserve">    for (</a:t>
            </a:r>
            <a:r>
              <a:rPr lang="ru-RU" sz="1000" dirty="0">
                <a:solidFill>
                  <a:srgbClr val="4EC9B0"/>
                </a:solidFill>
                <a:latin typeface="Consolas" pitchFamily="34" charset="0"/>
              </a:rPr>
              <a:t xml:space="preserve">Thread 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t : threads) t.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join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  System.out.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println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("Итог: " + c.</a:t>
            </a:r>
            <a:r>
              <a:rPr lang="ru-RU" sz="1000" dirty="0">
                <a:solidFill>
                  <a:srgbClr val="DCDCAA"/>
                </a:solidFill>
                <a:latin typeface="Consolas" pitchFamily="34" charset="0"/>
              </a:rPr>
              <a:t>getCount</a:t>
            </a: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>());</a:t>
            </a:r>
          </a:p>
          <a:p>
            <a:pPr indent="0" marL="0">
              <a:buNone/>
            </a:pPr>
            <a:r>
              <a:rPr lang="ru-RU" sz="1000" dirty="0">
                <a:solidFill>
                  <a:srgbClr val="FFFFFF"/>
                </a:solidFill>
                <a:latin typeface="Consolas" pitchFamily="34" charset="0"/>
              </a:rPr>
              <a:t xml:space="preserve">  } }</a:t>
            </a:r>
          </a:p>
        </p:txBody>
      </p:sp>
      <p:sp>
        <p:nvSpPr>
          <p:cNvPr id="10" name="OutputBg"/>
          <p:cNvSpPr/>
          <p:nvPr/>
        </p:nvSpPr>
        <p:spPr>
          <a:xfrm>
            <a:off x="4800600" y="686880"/>
            <a:ext cx="4252560" cy="2377440"/>
          </a:xfrm>
          <a:prstGeom prst="rect">
            <a:avLst/>
          </a:prstGeom>
          <a:solidFill>
            <a:srgbClr val="0D1117"/>
          </a:solidFill>
          <a:ln w="25400">
            <a:solidFill>
              <a:srgbClr val="30363D"/>
            </a:solidFill>
            <a:prstDash val="solid"/>
          </a:ln>
        </p:spPr>
      </p:sp>
      <p:sp>
        <p:nvSpPr>
          <p:cNvPr id="11" name="OutputHeader"/>
          <p:cNvSpPr/>
          <p:nvPr/>
        </p:nvSpPr>
        <p:spPr>
          <a:xfrm>
            <a:off x="4800600" y="686880"/>
            <a:ext cx="425256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OutputHeaderText"/>
          <p:cNvSpPr/>
          <p:nvPr/>
        </p:nvSpPr>
        <p:spPr>
          <a:xfrm>
            <a:off x="4846320" y="686880"/>
            <a:ext cx="416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A8FF78"/>
                </a:solidFill>
              </a:rPr>
              <a:t>► Вывод программы</a:t>
            </a:r>
          </a:p>
        </p:txBody>
      </p:sp>
      <p:sp>
        <p:nvSpPr>
          <p:cNvPr id="13" name="OutputText"/>
          <p:cNvSpPr/>
          <p:nvPr/>
        </p:nvSpPr>
        <p:spPr>
          <a:xfrm>
            <a:off x="4846320" y="1052640"/>
            <a:ext cx="4160640" cy="1920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ru-RU" sz="1400" b="1" dirty="0">
                <a:solidFill>
                  <a:srgbClr val="A8FF78"/>
                </a:solidFill>
                <a:latin typeface="Consolas" pitchFamily="34" charset="0"/>
              </a:rPr>
              <a:t>Итог: 5000</a:t>
            </a:r>
          </a:p>
          <a:p>
            <a:pPr indent="0" marL="0">
              <a:buNone/>
            </a:pPr>
            <a:r>
              <a:rPr lang="ru-RU" sz="1100" dirty="0">
                <a:solidFill>
                  <a:srgbClr val="B0BEC5"/>
                </a:solidFill>
                <a:latin typeface="Consolas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B0BEC5"/>
                </a:solidFill>
              </a:rPr>
              <a:t>5 потоков × 1000 итераций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B0BEC5"/>
                </a:solidFill>
              </a:rPr>
              <a:t>= точно 5000 благодаря synchronized</a:t>
            </a:r>
          </a:p>
        </p:txBody>
      </p:sp>
      <p:sp>
        <p:nvSpPr>
          <p:cNvPr id="14" name="AnalysisBg"/>
          <p:cNvSpPr/>
          <p:nvPr/>
        </p:nvSpPr>
        <p:spPr>
          <a:xfrm>
            <a:off x="4800600" y="3110040"/>
            <a:ext cx="4252560" cy="194172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5" name="AnalysisHeader"/>
          <p:cNvSpPr/>
          <p:nvPr/>
        </p:nvSpPr>
        <p:spPr>
          <a:xfrm>
            <a:off x="4800600" y="3110040"/>
            <a:ext cx="4252560" cy="32004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6" name="AnalysisHeaderText"/>
          <p:cNvSpPr/>
          <p:nvPr/>
        </p:nvSpPr>
        <p:spPr>
          <a:xfrm>
            <a:off x="4846320" y="3110040"/>
            <a:ext cx="416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" b="1" dirty="0">
                <a:solidFill>
                  <a:srgbClr val="FFFFFF"/>
                </a:solidFill>
              </a:rPr>
              <a:t>✅ Почему synchronized важен?</a:t>
            </a:r>
          </a:p>
        </p:txBody>
      </p:sp>
      <p:sp>
        <p:nvSpPr>
          <p:cNvPr id="17" name="AnalysisText"/>
          <p:cNvSpPr/>
          <p:nvPr/>
        </p:nvSpPr>
        <p:spPr>
          <a:xfrm>
            <a:off x="4846320" y="3476280"/>
            <a:ext cx="4160640" cy="1530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ru-RU" sz="1050" dirty="0">
                <a:solidFill>
                  <a:srgbClr val="1A1A2E"/>
                </a:solidFill>
              </a:rPr>
              <a:t>Без synchronized: 5 потоков читают count, увеличивают, записывают одновременно — результат непредсказуем, например: 3847.</a:t>
            </a:r>
          </a:p>
          <a:p>
            <a:pPr indent="0" marL="0">
              <a:buNone/>
            </a:pPr>
            <a:r>
              <a:rPr lang="ru-RU" sz="1050" dirty="0">
                <a:solidFill>
                  <a:srgbClr val="1A1A2E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ru-RU" sz="1050" b="1" dirty="0">
                <a:solidFill>
                  <a:srgbClr val="283593"/>
                </a:solidFill>
              </a:rPr>
              <a:t xml:space="preserve">С synchronized: </a:t>
            </a:r>
            <a:r>
              <a:rPr lang="ru-RU" sz="1050" dirty="0">
                <a:solidFill>
                  <a:srgbClr val="1A1A2E"/>
                </a:solidFill>
              </a:rPr>
              <a:t>монитор гарантирует атомарность операции count++ — результат всегда 5000.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потоками в Java</dc:title>
  <dc:subject>PptxGenJS Presentation</dc:subject>
  <dc:creator>PptxGenJS</dc:creator>
  <cp:lastModifiedBy>PptxGenJS</cp:lastModifiedBy>
  <cp:revision>1</cp:revision>
  <dcterms:created xsi:type="dcterms:W3CDTF">2026-05-26T08:20:07Z</dcterms:created>
  <dcterms:modified xsi:type="dcterms:W3CDTF">2026-05-26T08:20:07Z</dcterms:modified>
</cp:coreProperties>
</file>